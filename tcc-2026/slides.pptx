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1919"/>
    <a:srgbClr val="F6F4F1"/>
    <a:srgbClr val="E11919"/>
    <a:srgbClr val="5287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6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11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CB1919"/>
          </a:solidFill>
          <a:ln/>
        </p:spPr>
      </p:sp>
      <p:sp>
        <p:nvSpPr>
          <p:cNvPr id="4" name="Text 1"/>
          <p:cNvSpPr/>
          <p:nvPr/>
        </p:nvSpPr>
        <p:spPr>
          <a:xfrm>
            <a:off x="342900" y="4714875"/>
            <a:ext cx="1714500" cy="428625"/>
          </a:xfrm>
          <a:prstGeom prst="rect">
            <a:avLst/>
          </a:prstGeom>
          <a:noFill/>
          <a:ln/>
        </p:spPr>
        <p:txBody>
          <a:bodyPr wrap="square" lIns="0" tIns="0" rIns="0" bIns="510286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2660508" y="651698"/>
            <a:ext cx="4366345" cy="256993"/>
          </a:xfrm>
          <a:prstGeom prst="rect">
            <a:avLst/>
          </a:prstGeom>
          <a:noFill/>
          <a:ln/>
        </p:spPr>
        <p:txBody>
          <a:bodyPr wrap="square" lIns="136017" tIns="51054" rIns="136017" bIns="51054" rtlCol="0" anchor="t">
            <a:spAutoFit/>
          </a:bodyPr>
          <a:lstStyle/>
          <a:p>
            <a:pPr marL="0" indent="0" algn="l">
              <a:buNone/>
            </a:pPr>
            <a:r>
              <a:rPr lang="pt-BR" sz="1000" kern="0" spc="2" dirty="0" smtClean="0">
                <a:solidFill>
                  <a:srgbClr val="1E293B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Trabalho de conclusão de curso em desenvolvimento de sistemas</a:t>
            </a:r>
            <a:endParaRPr lang="pt-BR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2771775" y="1219795"/>
            <a:ext cx="5195333" cy="3323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pt-BR" sz="2250" b="1" dirty="0" smtClean="0">
                <a:solidFill>
                  <a:srgbClr val="1E293B"/>
                </a:solidFill>
                <a:latin typeface="Arial" panose="020B0604020202020204" pitchFamily="34" charset="0"/>
                <a:ea typeface="Playfair Display Bold" pitchFamily="34" charset="-122"/>
                <a:cs typeface="Arial" panose="020B0604020202020204" pitchFamily="34" charset="0"/>
              </a:rPr>
              <a:t>Estudo</a:t>
            </a:r>
            <a:r>
              <a:rPr lang="en-US" sz="2250" b="1" dirty="0" smtClean="0">
                <a:solidFill>
                  <a:srgbClr val="1E293B"/>
                </a:solidFill>
                <a:latin typeface="Arial" panose="020B0604020202020204" pitchFamily="34" charset="0"/>
                <a:ea typeface="Playfair Display Bold" pitchFamily="34" charset="-122"/>
                <a:cs typeface="Arial" panose="020B0604020202020204" pitchFamily="34" charset="0"/>
              </a:rPr>
              <a:t> e </a:t>
            </a:r>
            <a:r>
              <a:rPr lang="en-US" sz="2250" b="1" dirty="0">
                <a:solidFill>
                  <a:srgbClr val="1E293B"/>
                </a:solidFill>
                <a:latin typeface="Arial" panose="020B0604020202020204" pitchFamily="34" charset="0"/>
                <a:ea typeface="Playfair Display Bold" pitchFamily="34" charset="-122"/>
                <a:cs typeface="Arial" panose="020B0604020202020204" pitchFamily="34" charset="0"/>
              </a:rPr>
              <a:t>Indexação de Softwares 3D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2771775" y="1866862"/>
            <a:ext cx="5895147" cy="443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pt-BR" sz="1200" dirty="0" smtClean="0">
                <a:solidFill>
                  <a:srgbClr val="0284C7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Desenvolvimento de uma Plataforma para a organização e indexação de conteúdos que envolvam renderização 3D com a intenção de ajudar usuários destas ferramentas.</a:t>
            </a:r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2769951" y="4153648"/>
            <a:ext cx="512256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pt-BR" sz="1200" kern="0" spc="1" dirty="0" smtClean="0">
                <a:solidFill>
                  <a:srgbClr val="94A3B8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Alunos</a:t>
            </a:r>
            <a:r>
              <a:rPr lang="en-US" sz="1200" kern="0" spc="1" dirty="0" smtClean="0">
                <a:solidFill>
                  <a:srgbClr val="94A3B8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:</a:t>
            </a: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460818" y="4434483"/>
            <a:ext cx="1864293" cy="4616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 smtClean="0">
                <a:solidFill>
                  <a:srgbClr val="1E293B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Fernando dos </a:t>
            </a:r>
            <a:r>
              <a:rPr lang="pt-BR" sz="1000" dirty="0" smtClean="0">
                <a:solidFill>
                  <a:srgbClr val="1E293B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Santos</a:t>
            </a:r>
            <a:r>
              <a:rPr lang="en-US" sz="1000" dirty="0" smtClean="0">
                <a:solidFill>
                  <a:srgbClr val="1E293B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 </a:t>
            </a:r>
            <a:r>
              <a:rPr lang="pt-BR" sz="1000" dirty="0" smtClean="0">
                <a:solidFill>
                  <a:srgbClr val="1E293B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Braz</a:t>
            </a:r>
          </a:p>
          <a:p>
            <a:pPr marL="0" indent="0" algn="l">
              <a:buNone/>
            </a:pPr>
            <a:r>
              <a:rPr lang="en-US" sz="1000" dirty="0" smtClean="0">
                <a:solidFill>
                  <a:srgbClr val="1E293B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Gustavo Henrique da Silva Alves</a:t>
            </a:r>
          </a:p>
          <a:p>
            <a:pPr marL="0" indent="0" algn="l">
              <a:buNone/>
            </a:pPr>
            <a:r>
              <a:rPr lang="en-US" sz="1000" dirty="0" smtClean="0">
                <a:solidFill>
                  <a:srgbClr val="1E293B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Gustavo Müller Santos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261419" y="4153648"/>
            <a:ext cx="863954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pt-BR" sz="1200" kern="0" spc="1" dirty="0" smtClean="0">
                <a:solidFill>
                  <a:srgbClr val="94A3B8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Professores</a:t>
            </a:r>
            <a:r>
              <a:rPr lang="en-US" sz="1200" kern="0" spc="1" dirty="0" smtClean="0">
                <a:solidFill>
                  <a:srgbClr val="94A3B8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:</a:t>
            </a:r>
            <a:endParaRPr lang="en-US" sz="1200" kern="0" spc="1" dirty="0">
              <a:solidFill>
                <a:srgbClr val="94A3B8"/>
              </a:solidFill>
              <a:latin typeface="Arial" panose="020B0604020202020204" pitchFamily="34" charset="0"/>
              <a:ea typeface="Inter SemiBold" pitchFamily="34" charset="-122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261419" y="4434483"/>
            <a:ext cx="1530868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pt-BR" sz="1000" dirty="0" smtClean="0">
                <a:solidFill>
                  <a:srgbClr val="1E293B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Luciana</a:t>
            </a:r>
            <a:r>
              <a:rPr lang="en-US" sz="1000" dirty="0" smtClean="0">
                <a:solidFill>
                  <a:srgbClr val="1E293B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 Ferreira </a:t>
            </a:r>
            <a:r>
              <a:rPr lang="pt-BR" sz="1000" dirty="0" smtClean="0">
                <a:solidFill>
                  <a:srgbClr val="1E293B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Baptista</a:t>
            </a:r>
          </a:p>
          <a:p>
            <a:pPr marL="0" indent="0" algn="l">
              <a:buNone/>
            </a:pPr>
            <a:r>
              <a:rPr lang="pt-BR" sz="1000" dirty="0" smtClean="0">
                <a:solidFill>
                  <a:srgbClr val="1E293B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Ronildo</a:t>
            </a:r>
            <a:r>
              <a:rPr lang="en-US" sz="1000" dirty="0" smtClean="0">
                <a:solidFill>
                  <a:srgbClr val="1E293B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 </a:t>
            </a:r>
            <a:r>
              <a:rPr lang="pt-BR" sz="1000" dirty="0" smtClean="0">
                <a:solidFill>
                  <a:srgbClr val="1E293B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Aparecido</a:t>
            </a:r>
            <a:r>
              <a:rPr lang="en-US" sz="1000" dirty="0" smtClean="0">
                <a:solidFill>
                  <a:srgbClr val="1E293B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 Ferreira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31"/>
          <p:cNvSpPr/>
          <p:nvPr/>
        </p:nvSpPr>
        <p:spPr>
          <a:xfrm>
            <a:off x="8100392" y="0"/>
            <a:ext cx="1043608" cy="51435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Text 0"/>
          <p:cNvSpPr/>
          <p:nvPr/>
        </p:nvSpPr>
        <p:spPr>
          <a:xfrm>
            <a:off x="811706" y="353711"/>
            <a:ext cx="822960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1200" kern="0" spc="2" dirty="0">
                <a:solidFill>
                  <a:srgbClr val="0284C7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CONTEXTUALIZAÇÃO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811706" y="690474"/>
            <a:ext cx="6645709" cy="51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pt-BR" sz="1600" b="1" dirty="0" smtClean="0">
                <a:solidFill>
                  <a:srgbClr val="1E293B"/>
                </a:solidFill>
                <a:latin typeface="Arial" panose="020B0604020202020204" pitchFamily="34" charset="0"/>
                <a:ea typeface="Playfair Display Bold" pitchFamily="34" charset="-122"/>
                <a:cs typeface="Arial" panose="020B0604020202020204" pitchFamily="34" charset="0"/>
              </a:rPr>
              <a:t>A </a:t>
            </a:r>
            <a:r>
              <a:rPr lang="pt-BR" sz="1600" b="1" dirty="0" smtClean="0">
                <a:solidFill>
                  <a:srgbClr val="1E293B"/>
                </a:solidFill>
                <a:latin typeface="Arial" panose="020B0604020202020204" pitchFamily="34" charset="0"/>
                <a:ea typeface="Playfair Display Bold" pitchFamily="34" charset="-122"/>
                <a:cs typeface="Arial" panose="020B0604020202020204" pitchFamily="34" charset="0"/>
              </a:rPr>
              <a:t>renderização</a:t>
            </a:r>
            <a:r>
              <a:rPr lang="pt-BR" sz="1600" b="1" dirty="0" smtClean="0">
                <a:solidFill>
                  <a:srgbClr val="1E293B"/>
                </a:solidFill>
                <a:latin typeface="Arial" panose="020B0604020202020204" pitchFamily="34" charset="0"/>
                <a:ea typeface="Playfair Display Bold" pitchFamily="34" charset="-122"/>
                <a:cs typeface="Arial" panose="020B0604020202020204" pitchFamily="34" charset="0"/>
              </a:rPr>
              <a:t> 3D ganhou importância ao longo do tempo em várias áreas de atuação.</a:t>
            </a:r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96875" y="1506860"/>
            <a:ext cx="4680607" cy="2693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1E293B"/>
              </a:solidFill>
              <a:latin typeface="Times New Roman" panose="02020603050405020304" pitchFamily="18" charset="0"/>
              <a:ea typeface="Inter SemiBold" pitchFamily="34" charset="-122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1E293B"/>
                </a:solidFill>
                <a:latin typeface="Times New Roman" panose="02020603050405020304" pitchFamily="18" charset="0"/>
                <a:ea typeface="Inter SemiBold" pitchFamily="34" charset="-122"/>
                <a:cs typeface="Times New Roman" panose="02020603050405020304" pitchFamily="18" charset="0"/>
              </a:rPr>
              <a:t>O uso de ferramentas e </a:t>
            </a:r>
            <a:r>
              <a:rPr lang="pt-BR" sz="1400" i="1" dirty="0">
                <a:solidFill>
                  <a:srgbClr val="1E293B"/>
                </a:solidFill>
                <a:latin typeface="Times New Roman" panose="02020603050405020304" pitchFamily="18" charset="0"/>
                <a:ea typeface="Inter SemiBold" pitchFamily="34" charset="-122"/>
                <a:cs typeface="Times New Roman" panose="02020603050405020304" pitchFamily="18" charset="0"/>
              </a:rPr>
              <a:t>softwares</a:t>
            </a:r>
            <a:r>
              <a:rPr lang="pt-BR" sz="1400" dirty="0">
                <a:solidFill>
                  <a:srgbClr val="1E293B"/>
                </a:solidFill>
                <a:latin typeface="Times New Roman" panose="02020603050405020304" pitchFamily="18" charset="0"/>
                <a:ea typeface="Inter SemiBold" pitchFamily="34" charset="-122"/>
                <a:cs typeface="Times New Roman" panose="02020603050405020304" pitchFamily="18" charset="0"/>
              </a:rPr>
              <a:t> de </a:t>
            </a:r>
            <a:r>
              <a:rPr lang="pt-BR" sz="1400" dirty="0" err="1">
                <a:solidFill>
                  <a:srgbClr val="1E293B"/>
                </a:solidFill>
                <a:latin typeface="Times New Roman" panose="02020603050405020304" pitchFamily="18" charset="0"/>
                <a:ea typeface="Inter SemiBold" pitchFamily="34" charset="-122"/>
                <a:cs typeface="Times New Roman" panose="02020603050405020304" pitchFamily="18" charset="0"/>
              </a:rPr>
              <a:t>renderização</a:t>
            </a:r>
            <a:r>
              <a:rPr lang="pt-BR" sz="1400" dirty="0">
                <a:solidFill>
                  <a:srgbClr val="1E293B"/>
                </a:solidFill>
                <a:latin typeface="Times New Roman" panose="02020603050405020304" pitchFamily="18" charset="0"/>
                <a:ea typeface="Inter SemiBold" pitchFamily="34" charset="-122"/>
                <a:cs typeface="Times New Roman" panose="02020603050405020304" pitchFamily="18" charset="0"/>
              </a:rPr>
              <a:t> 3D tiveram um grande aumento de seu </a:t>
            </a:r>
            <a:r>
              <a:rPr lang="pt-BR" sz="1400" dirty="0" smtClean="0">
                <a:solidFill>
                  <a:srgbClr val="1E293B"/>
                </a:solidFill>
                <a:latin typeface="Times New Roman" panose="02020603050405020304" pitchFamily="18" charset="0"/>
                <a:ea typeface="Inter SemiBold" pitchFamily="34" charset="-122"/>
                <a:cs typeface="Times New Roman" panose="02020603050405020304" pitchFamily="18" charset="0"/>
              </a:rPr>
              <a:t>uso por profissionais e por pessoas que desejam aprender acerca do tema.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1E293B"/>
              </a:solidFill>
              <a:latin typeface="Times New Roman" panose="02020603050405020304" pitchFamily="18" charset="0"/>
              <a:ea typeface="Inter SemiBold" pitchFamily="34" charset="-122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400" dirty="0" smtClean="0">
                <a:solidFill>
                  <a:srgbClr val="1E293B"/>
                </a:solidFill>
                <a:latin typeface="Times New Roman" panose="02020603050405020304" pitchFamily="18" charset="0"/>
                <a:ea typeface="Inter SemiBold" pitchFamily="34" charset="-122"/>
                <a:cs typeface="Times New Roman" panose="02020603050405020304" pitchFamily="18" charset="0"/>
              </a:rPr>
              <a:t>O aumento do seu uso acabou por fazer esta área ganhar uma grande importância no cenário tecnológico moderno.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400" dirty="0" smtClean="0">
              <a:solidFill>
                <a:srgbClr val="1E293B"/>
              </a:solidFill>
              <a:latin typeface="Times New Roman" panose="02020603050405020304" pitchFamily="18" charset="0"/>
              <a:ea typeface="Inter SemiBold" pitchFamily="34" charset="-122"/>
              <a:cs typeface="Times New Roman" panose="02020603050405020304" pitchFamily="18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400" dirty="0" smtClean="0">
                <a:solidFill>
                  <a:srgbClr val="1E293B"/>
                </a:solidFill>
                <a:latin typeface="Times New Roman" panose="02020603050405020304" pitchFamily="18" charset="0"/>
                <a:ea typeface="Inter SemiBold" pitchFamily="34" charset="-122"/>
                <a:cs typeface="Times New Roman" panose="02020603050405020304" pitchFamily="18" charset="0"/>
              </a:rPr>
              <a:t>A computação gráfica ganhou uma grande importância em varias áreas importantes como engenharia, arquitetura, animação e produção audiovisual.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pt-BR" sz="1200" dirty="0">
              <a:solidFill>
                <a:srgbClr val="1E293B"/>
              </a:solidFill>
              <a:latin typeface="Times New Roman" panose="02020603050405020304" pitchFamily="18" charset="0"/>
              <a:ea typeface="Inter SemiBold" pitchFamily="34" charset="-122"/>
              <a:cs typeface="Times New Roman" panose="02020603050405020304" pitchFamily="18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pt-BR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tângulo 32"/>
          <p:cNvSpPr/>
          <p:nvPr/>
        </p:nvSpPr>
        <p:spPr>
          <a:xfrm>
            <a:off x="8100392" y="4121473"/>
            <a:ext cx="1043608" cy="1011855"/>
          </a:xfrm>
          <a:prstGeom prst="rect">
            <a:avLst/>
          </a:prstGeom>
          <a:solidFill>
            <a:srgbClr val="CB1919"/>
          </a:solidFill>
          <a:ln>
            <a:solidFill>
              <a:srgbClr val="CB19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B191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70967" y="400735"/>
            <a:ext cx="822960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kern="0" spc="2" dirty="0">
                <a:solidFill>
                  <a:srgbClr val="0284C7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PROBLEMA DA PESQUISA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270967" y="984201"/>
            <a:ext cx="7704068" cy="51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1600" b="1" dirty="0" smtClean="0">
                <a:solidFill>
                  <a:srgbClr val="1E293B"/>
                </a:solidFill>
                <a:latin typeface="Arial" panose="020B0604020202020204" pitchFamily="34" charset="0"/>
                <a:ea typeface="Playfair Display Bold" pitchFamily="34" charset="-122"/>
                <a:cs typeface="Arial" panose="020B0604020202020204" pitchFamily="34" charset="0"/>
              </a:rPr>
              <a:t>A falta de informações sobre </a:t>
            </a:r>
            <a:r>
              <a:rPr lang="pt-BR" sz="1600" b="1" dirty="0" smtClean="0">
                <a:solidFill>
                  <a:srgbClr val="1E293B"/>
                </a:solidFill>
                <a:latin typeface="Arial" panose="020B0604020202020204" pitchFamily="34" charset="0"/>
                <a:ea typeface="Playfair Display Bold" pitchFamily="34" charset="-122"/>
                <a:cs typeface="Arial" panose="020B0604020202020204" pitchFamily="34" charset="0"/>
              </a:rPr>
              <a:t>renderização</a:t>
            </a:r>
            <a:r>
              <a:rPr lang="pt-BR" sz="1600" b="1" dirty="0" smtClean="0">
                <a:solidFill>
                  <a:srgbClr val="1E293B"/>
                </a:solidFill>
                <a:latin typeface="Arial" panose="020B0604020202020204" pitchFamily="34" charset="0"/>
                <a:ea typeface="Playfair Display Bold" pitchFamily="34" charset="-122"/>
                <a:cs typeface="Arial" panose="020B0604020202020204" pitchFamily="34" charset="0"/>
              </a:rPr>
              <a:t> 3D trazem dificuldades para quem quer trabalhar e aprender como utilizar estes programas</a:t>
            </a:r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0" y="0"/>
            <a:ext cx="1043608" cy="51435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 5"/>
          <p:cNvSpPr/>
          <p:nvPr/>
        </p:nvSpPr>
        <p:spPr>
          <a:xfrm>
            <a:off x="0" y="-12859"/>
            <a:ext cx="1043608" cy="1011855"/>
          </a:xfrm>
          <a:prstGeom prst="rect">
            <a:avLst/>
          </a:prstGeom>
          <a:solidFill>
            <a:srgbClr val="CB1919"/>
          </a:solidFill>
          <a:ln>
            <a:solidFill>
              <a:srgbClr val="CB19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B1919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1270967" y="2077278"/>
            <a:ext cx="711128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Dentro das informações coletadas é fácil de encontrar usuários procurando respostas a certas informações que nem sempre existem muitas respostas ou são poucas e muito complexa e nem sempre eles </a:t>
            </a:r>
            <a:r>
              <a:rPr lang="pt-B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entendem.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Muitas informações também são bloqueadas pela questão da linguagem/tradução. Muitas informações são apenas encontradas em inglês, ou estão parcialmente traduzidas, ou a tradução já é velha, e, por isso, ela não possui muita qualidade.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93568"/>
            <a:ext cx="822960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buNone/>
            </a:pPr>
            <a:r>
              <a:rPr lang="en-US" sz="1200" kern="0" spc="2" dirty="0">
                <a:solidFill>
                  <a:srgbClr val="5287A3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OBJETIVOS DO PROJETO</a:t>
            </a:r>
            <a:endParaRPr lang="en-US" sz="1200" dirty="0">
              <a:solidFill>
                <a:srgbClr val="5287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26587"/>
            <a:ext cx="8229600" cy="51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1600" b="1" dirty="0" smtClean="0">
                <a:solidFill>
                  <a:srgbClr val="1E293B"/>
                </a:solidFill>
                <a:latin typeface="Arial" panose="020B0604020202020204" pitchFamily="34" charset="0"/>
                <a:ea typeface="Playfair Display Bold" pitchFamily="34" charset="-122"/>
                <a:cs typeface="Arial" panose="020B0604020202020204" pitchFamily="34" charset="0"/>
              </a:rPr>
              <a:t>Nosso objetivo é fornecer um local onde se possa encontrar materiais sobre renderização 3D para todos que desejam conhecer sobre tal assunto</a:t>
            </a:r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46330" y="1439514"/>
            <a:ext cx="7600329" cy="1213666"/>
          </a:xfrm>
          <a:prstGeom prst="rect">
            <a:avLst/>
          </a:prstGeom>
          <a:noFill/>
          <a:ln/>
        </p:spPr>
        <p:txBody>
          <a:bodyPr wrap="square" lIns="0" tIns="0" rIns="0" bIns="136017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osso projeto consiste na criação de um site que tem como objetivo ser um centro onde as pessoas poderão encontrar informações e materiais para o entendimento da renderização 3D, sendo um ambiente de fácil utilização, e, assim possa ajudar as pessoas que buscam aprender ou aprofundar os conhecimentos sobre está área.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46330" y="2891064"/>
            <a:ext cx="822960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kern="0" spc="1" dirty="0">
                <a:solidFill>
                  <a:srgbClr val="5287A3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JUSTICATIVA DO PROJETO</a:t>
            </a:r>
            <a:endParaRPr lang="en-US" sz="800" dirty="0">
              <a:solidFill>
                <a:srgbClr val="5287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8100392" y="0"/>
            <a:ext cx="1043608" cy="51435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Retângulo 9"/>
          <p:cNvSpPr/>
          <p:nvPr/>
        </p:nvSpPr>
        <p:spPr>
          <a:xfrm>
            <a:off x="8100392" y="4131645"/>
            <a:ext cx="1043608" cy="1011855"/>
          </a:xfrm>
          <a:prstGeom prst="rect">
            <a:avLst/>
          </a:prstGeom>
          <a:solidFill>
            <a:srgbClr val="CB1919"/>
          </a:solidFill>
          <a:ln>
            <a:solidFill>
              <a:srgbClr val="CB19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B1919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376756" y="3313614"/>
            <a:ext cx="74543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Encontrar informações acerca de softwares e conhecimento de renderização 3D é limitado e muitas vezes difícil e não intuitivo, nosso projeto busca transformar está tarefa árdua em algo fácil de encontrar e rápido de se executar, sem que haja grandes imprevistos.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736363" y="400735"/>
            <a:ext cx="1602433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pt-BR" sz="1200" kern="0" spc="2" dirty="0" smtClean="0">
                <a:solidFill>
                  <a:srgbClr val="0284C7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Metodologia aplicada</a:t>
            </a: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1736363" y="790624"/>
            <a:ext cx="3906078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pt-BR" sz="1600" b="1" dirty="0" smtClean="0">
                <a:solidFill>
                  <a:srgbClr val="1E293B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Etapas do Desenvolvimento do projeto</a:t>
            </a:r>
            <a:endParaRPr lang="pt-B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485775" y="191234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F8FAF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</a:t>
            </a:r>
            <a:endParaRPr lang="en-US" sz="600" dirty="0"/>
          </a:p>
        </p:txBody>
      </p:sp>
      <p:sp>
        <p:nvSpPr>
          <p:cNvPr id="12" name="Text 8"/>
          <p:cNvSpPr/>
          <p:nvPr/>
        </p:nvSpPr>
        <p:spPr>
          <a:xfrm>
            <a:off x="485775" y="2490992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F8FAF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</a:t>
            </a:r>
            <a:endParaRPr lang="en-US" sz="600" dirty="0"/>
          </a:p>
        </p:txBody>
      </p:sp>
      <p:sp>
        <p:nvSpPr>
          <p:cNvPr id="16" name="Text 12"/>
          <p:cNvSpPr/>
          <p:nvPr/>
        </p:nvSpPr>
        <p:spPr>
          <a:xfrm>
            <a:off x="585755" y="3123482"/>
            <a:ext cx="64" cy="923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endParaRPr lang="en-US" sz="600" dirty="0"/>
          </a:p>
        </p:txBody>
      </p:sp>
      <p:sp>
        <p:nvSpPr>
          <p:cNvPr id="20" name="Text 16"/>
          <p:cNvSpPr/>
          <p:nvPr/>
        </p:nvSpPr>
        <p:spPr>
          <a:xfrm>
            <a:off x="585755" y="3702126"/>
            <a:ext cx="64" cy="923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endParaRPr lang="en-US" sz="600" dirty="0"/>
          </a:p>
        </p:txBody>
      </p:sp>
      <p:sp>
        <p:nvSpPr>
          <p:cNvPr id="28" name="Text 22"/>
          <p:cNvSpPr/>
          <p:nvPr/>
        </p:nvSpPr>
        <p:spPr>
          <a:xfrm>
            <a:off x="5474959" y="2050759"/>
            <a:ext cx="65" cy="2308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750" dirty="0" smtClean="0"/>
          </a:p>
          <a:p>
            <a:pPr marL="0" indent="0" algn="l">
              <a:buNone/>
            </a:pPr>
            <a:endParaRPr lang="en-US" sz="750" dirty="0"/>
          </a:p>
        </p:txBody>
      </p:sp>
      <p:sp>
        <p:nvSpPr>
          <p:cNvPr id="36" name="Text 28"/>
          <p:cNvSpPr/>
          <p:nvPr/>
        </p:nvSpPr>
        <p:spPr>
          <a:xfrm>
            <a:off x="5474959" y="2850859"/>
            <a:ext cx="65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750" dirty="0"/>
          </a:p>
        </p:txBody>
      </p:sp>
      <p:sp>
        <p:nvSpPr>
          <p:cNvPr id="43" name="Text 33"/>
          <p:cNvSpPr/>
          <p:nvPr/>
        </p:nvSpPr>
        <p:spPr>
          <a:xfrm>
            <a:off x="5474959" y="3531301"/>
            <a:ext cx="65" cy="923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600" dirty="0"/>
          </a:p>
        </p:txBody>
      </p:sp>
      <p:sp>
        <p:nvSpPr>
          <p:cNvPr id="19" name="Retângulo 18"/>
          <p:cNvSpPr/>
          <p:nvPr/>
        </p:nvSpPr>
        <p:spPr>
          <a:xfrm>
            <a:off x="0" y="0"/>
            <a:ext cx="1043608" cy="51435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3" name="Retângulo 22"/>
          <p:cNvSpPr/>
          <p:nvPr/>
        </p:nvSpPr>
        <p:spPr>
          <a:xfrm>
            <a:off x="0" y="0"/>
            <a:ext cx="1043608" cy="1011855"/>
          </a:xfrm>
          <a:prstGeom prst="rect">
            <a:avLst/>
          </a:prstGeom>
          <a:solidFill>
            <a:srgbClr val="CB1919"/>
          </a:solidFill>
          <a:ln>
            <a:solidFill>
              <a:srgbClr val="CB19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B1919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1736364" y="1428791"/>
            <a:ext cx="713928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Estudo e pesquisa dos softwares e programas que serão utilizados</a:t>
            </a:r>
          </a:p>
          <a:p>
            <a:pPr marL="342900" indent="-342900">
              <a:buFont typeface="+mj-lt"/>
              <a:buAutoNum type="arabicPeriod"/>
            </a:pPr>
            <a:endParaRPr lang="pt-BR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pt-B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Seleção dos assuntos e aprofundamento em seus temas, assim evitando falhas</a:t>
            </a:r>
          </a:p>
          <a:p>
            <a:pPr marL="342900" indent="-342900">
              <a:buFont typeface="+mj-lt"/>
              <a:buAutoNum type="arabicPeriod"/>
            </a:pPr>
            <a:endParaRPr lang="pt-BR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pt-B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Seleção dos materiais e verificação da escrita e tradução destes, para melhor compreensão dos usuários</a:t>
            </a:r>
          </a:p>
          <a:p>
            <a:pPr marL="342900" indent="-342900">
              <a:buFont typeface="+mj-lt"/>
              <a:buAutoNum type="arabicPeriod"/>
            </a:pPr>
            <a:endParaRPr lang="pt-BR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pt-B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Criação do site com todos os conhecimentos adquiridos durantes estes anos sendo utilizado, além da utilização dos materiais pesquisados</a:t>
            </a:r>
          </a:p>
          <a:p>
            <a:pPr marL="342900" indent="-342900">
              <a:buFont typeface="+mj-lt"/>
              <a:buAutoNum type="arabicPeriod"/>
            </a:pPr>
            <a:endParaRPr lang="pt-BR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83949" y="385411"/>
            <a:ext cx="822960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kern="0" spc="2" dirty="0">
                <a:solidFill>
                  <a:srgbClr val="0284C7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NOSSA SOLUÇÃO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83949" y="742769"/>
            <a:ext cx="5736742" cy="51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04000"/>
              </a:lnSpc>
              <a:buNone/>
            </a:pPr>
            <a:r>
              <a:rPr lang="pt-BR" sz="1600" b="1" i="1" dirty="0" smtClean="0">
                <a:solidFill>
                  <a:srgbClr val="1E293B"/>
                </a:solidFill>
                <a:latin typeface="Arial" panose="020B0604020202020204" pitchFamily="34" charset="0"/>
                <a:ea typeface="Playfair Display Bold" pitchFamily="34" charset="-122"/>
                <a:cs typeface="Arial" panose="020B0604020202020204" pitchFamily="34" charset="0"/>
              </a:rPr>
              <a:t>Render Index: </a:t>
            </a:r>
            <a:r>
              <a:rPr lang="pt-BR" sz="1600" b="1" dirty="0" smtClean="0">
                <a:solidFill>
                  <a:srgbClr val="1E293B"/>
                </a:solidFill>
                <a:latin typeface="Arial" panose="020B0604020202020204" pitchFamily="34" charset="0"/>
                <a:ea typeface="Playfair Display Bold" pitchFamily="34" charset="-122"/>
                <a:cs typeface="Arial" panose="020B0604020202020204" pitchFamily="34" charset="0"/>
              </a:rPr>
              <a:t>Um ambiente para encontrar conteúdos de renderização de forma fácil e rápida</a:t>
            </a:r>
            <a:endParaRPr lang="pt-BR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81539" y="1546257"/>
            <a:ext cx="5537959" cy="20774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400" dirty="0" smtClean="0">
                <a:solidFill>
                  <a:srgbClr val="1E293B"/>
                </a:solidFill>
                <a:latin typeface="Times New Roman" panose="02020603050405020304" pitchFamily="18" charset="0"/>
                <a:ea typeface="Inter SemiBold" pitchFamily="34" charset="-122"/>
                <a:cs typeface="Times New Roman" panose="02020603050405020304" pitchFamily="18" charset="0"/>
              </a:rPr>
              <a:t>O </a:t>
            </a:r>
            <a:r>
              <a:rPr lang="pt-BR" sz="1400" i="1" dirty="0" smtClean="0">
                <a:solidFill>
                  <a:srgbClr val="1E293B"/>
                </a:solidFill>
                <a:latin typeface="Times New Roman" panose="02020603050405020304" pitchFamily="18" charset="0"/>
                <a:ea typeface="Inter SemiBold" pitchFamily="34" charset="-122"/>
                <a:cs typeface="Times New Roman" panose="02020603050405020304" pitchFamily="18" charset="0"/>
              </a:rPr>
              <a:t>Render Index </a:t>
            </a:r>
            <a:r>
              <a:rPr lang="pt-BR" sz="1400" dirty="0" smtClean="0">
                <a:solidFill>
                  <a:srgbClr val="1E293B"/>
                </a:solidFill>
                <a:latin typeface="Times New Roman" panose="02020603050405020304" pitchFamily="18" charset="0"/>
                <a:ea typeface="Inter SemiBold" pitchFamily="34" charset="-122"/>
                <a:cs typeface="Times New Roman" panose="02020603050405020304" pitchFamily="18" charset="0"/>
              </a:rPr>
              <a:t>é um site que consistirá em ser um ambiente que servirá como um centro de informações e conteúdo acerca de </a:t>
            </a:r>
            <a:r>
              <a:rPr lang="pt-BR" sz="1400" dirty="0" smtClean="0">
                <a:solidFill>
                  <a:srgbClr val="1E293B"/>
                </a:solidFill>
                <a:latin typeface="Times New Roman" panose="02020603050405020304" pitchFamily="18" charset="0"/>
                <a:ea typeface="Inter SemiBold" pitchFamily="34" charset="-122"/>
                <a:cs typeface="Times New Roman" panose="02020603050405020304" pitchFamily="18" charset="0"/>
              </a:rPr>
              <a:t>Renderização</a:t>
            </a:r>
            <a:r>
              <a:rPr lang="pt-BR" sz="1400" dirty="0" smtClean="0">
                <a:solidFill>
                  <a:srgbClr val="1E293B"/>
                </a:solidFill>
                <a:latin typeface="Times New Roman" panose="02020603050405020304" pitchFamily="18" charset="0"/>
                <a:ea typeface="Inter SemiBold" pitchFamily="34" charset="-122"/>
                <a:cs typeface="Times New Roman" panose="02020603050405020304" pitchFamily="18" charset="0"/>
              </a:rPr>
              <a:t> 3D.</a:t>
            </a:r>
          </a:p>
          <a:p>
            <a:pPr algn="l"/>
            <a:endParaRPr lang="pt-BR" sz="1400" dirty="0">
              <a:solidFill>
                <a:srgbClr val="1E293B"/>
              </a:solidFill>
              <a:latin typeface="Times New Roman" panose="02020603050405020304" pitchFamily="18" charset="0"/>
              <a:ea typeface="Inter SemiBold" pitchFamily="34" charset="-122"/>
              <a:cs typeface="Times New Roman" panose="02020603050405020304" pitchFamily="18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400" dirty="0" smtClean="0">
                <a:solidFill>
                  <a:srgbClr val="1E293B"/>
                </a:solidFill>
                <a:latin typeface="Times New Roman" panose="02020603050405020304" pitchFamily="18" charset="0"/>
                <a:ea typeface="Inter SemiBold" pitchFamily="34" charset="-122"/>
                <a:cs typeface="Times New Roman" panose="02020603050405020304" pitchFamily="18" charset="0"/>
              </a:rPr>
              <a:t>O site também conta com uma explicação previa de seus softwares mais importantes, como o </a:t>
            </a:r>
            <a:r>
              <a:rPr lang="pt-BR" sz="1400" dirty="0" smtClean="0">
                <a:solidFill>
                  <a:srgbClr val="1E293B"/>
                </a:solidFill>
                <a:latin typeface="Times New Roman" panose="02020603050405020304" pitchFamily="18" charset="0"/>
                <a:ea typeface="Inter SemiBold" pitchFamily="34" charset="-122"/>
                <a:cs typeface="Times New Roman" panose="02020603050405020304" pitchFamily="18" charset="0"/>
              </a:rPr>
              <a:t>Blender</a:t>
            </a:r>
            <a:r>
              <a:rPr lang="pt-BR" sz="1400" dirty="0" smtClean="0">
                <a:solidFill>
                  <a:srgbClr val="1E293B"/>
                </a:solidFill>
                <a:latin typeface="Times New Roman" panose="02020603050405020304" pitchFamily="18" charset="0"/>
                <a:ea typeface="Inter SemiBold" pitchFamily="34" charset="-122"/>
                <a:cs typeface="Times New Roman" panose="02020603050405020304" pitchFamily="18" charset="0"/>
              </a:rPr>
              <a:t>, </a:t>
            </a:r>
            <a:r>
              <a:rPr lang="pt-BR" sz="1400" dirty="0" smtClean="0">
                <a:solidFill>
                  <a:srgbClr val="1E293B"/>
                </a:solidFill>
                <a:latin typeface="Times New Roman" panose="02020603050405020304" pitchFamily="18" charset="0"/>
                <a:ea typeface="Inter SemiBold" pitchFamily="34" charset="-122"/>
                <a:cs typeface="Times New Roman" panose="02020603050405020304" pitchFamily="18" charset="0"/>
              </a:rPr>
              <a:t>Vulkan</a:t>
            </a:r>
            <a:r>
              <a:rPr lang="pt-BR" sz="1400" dirty="0" smtClean="0">
                <a:solidFill>
                  <a:srgbClr val="1E293B"/>
                </a:solidFill>
                <a:latin typeface="Times New Roman" panose="02020603050405020304" pitchFamily="18" charset="0"/>
                <a:ea typeface="Inter SemiBold" pitchFamily="34" charset="-122"/>
                <a:cs typeface="Times New Roman" panose="02020603050405020304" pitchFamily="18" charset="0"/>
              </a:rPr>
              <a:t> e </a:t>
            </a:r>
            <a:r>
              <a:rPr lang="pt-BR" sz="1400" dirty="0" err="1" smtClean="0">
                <a:solidFill>
                  <a:srgbClr val="1E293B"/>
                </a:solidFill>
                <a:latin typeface="Times New Roman" panose="02020603050405020304" pitchFamily="18" charset="0"/>
                <a:ea typeface="Inter SemiBold" pitchFamily="34" charset="-122"/>
                <a:cs typeface="Times New Roman" panose="02020603050405020304" pitchFamily="18" charset="0"/>
              </a:rPr>
              <a:t>OpenGL</a:t>
            </a:r>
            <a:r>
              <a:rPr lang="pt-BR" sz="1400" dirty="0" smtClean="0">
                <a:solidFill>
                  <a:srgbClr val="1E293B"/>
                </a:solidFill>
                <a:latin typeface="Times New Roman" panose="02020603050405020304" pitchFamily="18" charset="0"/>
                <a:ea typeface="Inter SemiBold" pitchFamily="34" charset="-122"/>
                <a:cs typeface="Times New Roman" panose="02020603050405020304" pitchFamily="18" charset="0"/>
              </a:rPr>
              <a:t>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1E293B"/>
              </a:solidFill>
              <a:latin typeface="Times New Roman" panose="02020603050405020304" pitchFamily="18" charset="0"/>
              <a:ea typeface="Inter SemiBold" pitchFamily="34" charset="-122"/>
              <a:cs typeface="Times New Roman" panose="02020603050405020304" pitchFamily="18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400" dirty="0" smtClean="0">
                <a:solidFill>
                  <a:srgbClr val="1E293B"/>
                </a:solidFill>
                <a:latin typeface="Times New Roman" panose="02020603050405020304" pitchFamily="18" charset="0"/>
                <a:ea typeface="Inter SemiBold" pitchFamily="34" charset="-122"/>
                <a:cs typeface="Times New Roman" panose="02020603050405020304" pitchFamily="18" charset="0"/>
              </a:rPr>
              <a:t>Outra parte importante é a disponibilização de traduções de documentações e outras informações para o português, trazendo mais conforto ao usuário.</a:t>
            </a:r>
            <a:endParaRPr lang="pt-BR" sz="1400" dirty="0" smtClean="0">
              <a:solidFill>
                <a:srgbClr val="1E293B"/>
              </a:solidFill>
              <a:latin typeface="Times New Roman" panose="02020603050405020304" pitchFamily="18" charset="0"/>
              <a:ea typeface="Inter SemiBold" pitchFamily="34" charset="-122"/>
              <a:cs typeface="Times New Roman" panose="02020603050405020304" pitchFamily="18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pt-BR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tângulo 29"/>
          <p:cNvSpPr/>
          <p:nvPr/>
        </p:nvSpPr>
        <p:spPr>
          <a:xfrm>
            <a:off x="8100392" y="0"/>
            <a:ext cx="1043608" cy="51435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3" name="Retângulo 32"/>
          <p:cNvSpPr/>
          <p:nvPr/>
        </p:nvSpPr>
        <p:spPr>
          <a:xfrm>
            <a:off x="8100392" y="4121473"/>
            <a:ext cx="1043608" cy="1011855"/>
          </a:xfrm>
          <a:prstGeom prst="rect">
            <a:avLst/>
          </a:prstGeom>
          <a:solidFill>
            <a:srgbClr val="CB1919"/>
          </a:solidFill>
          <a:ln>
            <a:solidFill>
              <a:srgbClr val="CB19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B191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290844" y="912246"/>
            <a:ext cx="7205884" cy="51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1600" b="1" dirty="0" smtClean="0">
                <a:solidFill>
                  <a:srgbClr val="1E293B"/>
                </a:solidFill>
                <a:latin typeface="Arial" panose="020B0604020202020204" pitchFamily="34" charset="0"/>
                <a:ea typeface="Playfair Display Bold" pitchFamily="34" charset="-122"/>
                <a:cs typeface="Arial" panose="020B0604020202020204" pitchFamily="34" charset="0"/>
              </a:rPr>
              <a:t>O uso de ferramentas modernas para com o objetivo de ser uma solução simples e prática</a:t>
            </a:r>
            <a:r>
              <a:rPr lang="pt-BR" sz="1600" b="1" dirty="0" smtClean="0">
                <a:solidFill>
                  <a:srgbClr val="1E293B"/>
                </a:solidFill>
                <a:latin typeface="Arial" panose="020B0604020202020204" pitchFamily="34" charset="0"/>
                <a:ea typeface="Playfair Display Bold" pitchFamily="34" charset="-122"/>
                <a:cs typeface="Arial" panose="020B0604020202020204" pitchFamily="34" charset="0"/>
              </a:rPr>
              <a:t>.</a:t>
            </a:r>
            <a:r>
              <a:rPr lang="en-US" sz="1200" b="1" dirty="0" smtClean="0">
                <a:solidFill>
                  <a:srgbClr val="1E293B"/>
                </a:solidFill>
                <a:latin typeface="Arial" panose="020B0604020202020204" pitchFamily="34" charset="0"/>
                <a:ea typeface="Playfair Display Bold" pitchFamily="34" charset="-122"/>
                <a:cs typeface="Arial" panose="020B0604020202020204" pitchFamily="34" charset="0"/>
              </a:rPr>
              <a:t> 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CaixaDeTexto 25"/>
          <p:cNvSpPr txBox="1"/>
          <p:nvPr/>
        </p:nvSpPr>
        <p:spPr>
          <a:xfrm>
            <a:off x="1191453" y="314146"/>
            <a:ext cx="32363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>
                <a:solidFill>
                  <a:srgbClr val="5287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elaboração e funcionamento da plataforma</a:t>
            </a:r>
            <a:endParaRPr lang="pt-BR" sz="1200" dirty="0">
              <a:solidFill>
                <a:srgbClr val="5287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0" y="0"/>
            <a:ext cx="1043608" cy="51435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Retângulo 18"/>
          <p:cNvSpPr/>
          <p:nvPr/>
        </p:nvSpPr>
        <p:spPr>
          <a:xfrm>
            <a:off x="0" y="-12859"/>
            <a:ext cx="1043608" cy="1011855"/>
          </a:xfrm>
          <a:prstGeom prst="rect">
            <a:avLst/>
          </a:prstGeom>
          <a:solidFill>
            <a:srgbClr val="CB1919"/>
          </a:solidFill>
          <a:ln>
            <a:solidFill>
              <a:srgbClr val="CB19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B1919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1187725" y="1743200"/>
            <a:ext cx="291713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400" dirty="0" smtClean="0">
                <a:solidFill>
                  <a:srgbClr val="1E293B"/>
                </a:solidFill>
                <a:latin typeface="Times New Roman" panose="02020603050405020304" pitchFamily="18" charset="0"/>
                <a:ea typeface="Inter SemiBold" pitchFamily="34" charset="-122"/>
                <a:cs typeface="Times New Roman" panose="02020603050405020304" pitchFamily="18" charset="0"/>
              </a:rPr>
              <a:t>O site utiliza-se </a:t>
            </a:r>
            <a:r>
              <a:rPr lang="pt-BR" sz="1400" dirty="0">
                <a:solidFill>
                  <a:srgbClr val="1E293B"/>
                </a:solidFill>
                <a:latin typeface="Times New Roman" panose="02020603050405020304" pitchFamily="18" charset="0"/>
                <a:ea typeface="Inter SemiBold" pitchFamily="34" charset="-122"/>
                <a:cs typeface="Times New Roman" panose="02020603050405020304" pitchFamily="18" charset="0"/>
              </a:rPr>
              <a:t>o conceito de </a:t>
            </a:r>
            <a:r>
              <a:rPr lang="pt-BR" sz="1400" i="1" dirty="0">
                <a:solidFill>
                  <a:srgbClr val="1E293B"/>
                </a:solidFill>
                <a:latin typeface="Times New Roman" panose="02020603050405020304" pitchFamily="18" charset="0"/>
                <a:ea typeface="Inter SemiBold" pitchFamily="34" charset="-122"/>
                <a:cs typeface="Times New Roman" panose="02020603050405020304" pitchFamily="18" charset="0"/>
              </a:rPr>
              <a:t>Awesome</a:t>
            </a:r>
            <a:r>
              <a:rPr lang="pt-BR" sz="1400" i="1" dirty="0">
                <a:solidFill>
                  <a:srgbClr val="1E293B"/>
                </a:solidFill>
                <a:latin typeface="Times New Roman" panose="02020603050405020304" pitchFamily="18" charset="0"/>
                <a:ea typeface="Inter SemiBold" pitchFamily="34" charset="-122"/>
                <a:cs typeface="Times New Roman" panose="02020603050405020304" pitchFamily="18" charset="0"/>
              </a:rPr>
              <a:t> Index, </a:t>
            </a:r>
            <a:r>
              <a:rPr lang="pt-BR" sz="1400" dirty="0">
                <a:solidFill>
                  <a:srgbClr val="1E293B"/>
                </a:solidFill>
                <a:latin typeface="Times New Roman" panose="02020603050405020304" pitchFamily="18" charset="0"/>
                <a:ea typeface="Inter SemiBold" pitchFamily="34" charset="-122"/>
                <a:cs typeface="Times New Roman" panose="02020603050405020304" pitchFamily="18" charset="0"/>
              </a:rPr>
              <a:t>que organiza links em arquivos </a:t>
            </a:r>
            <a:r>
              <a:rPr lang="pt-BR" sz="1400" i="1" dirty="0">
                <a:solidFill>
                  <a:srgbClr val="1E293B"/>
                </a:solidFill>
                <a:latin typeface="Times New Roman" panose="02020603050405020304" pitchFamily="18" charset="0"/>
                <a:ea typeface="Inter SemiBold" pitchFamily="34" charset="-122"/>
                <a:cs typeface="Times New Roman" panose="02020603050405020304" pitchFamily="18" charset="0"/>
              </a:rPr>
              <a:t>markdown</a:t>
            </a:r>
            <a:r>
              <a:rPr lang="pt-BR" sz="1400" dirty="0">
                <a:solidFill>
                  <a:srgbClr val="1E293B"/>
                </a:solidFill>
                <a:latin typeface="Times New Roman" panose="02020603050405020304" pitchFamily="18" charset="0"/>
                <a:ea typeface="Inter SemiBold" pitchFamily="34" charset="-122"/>
                <a:cs typeface="Times New Roman" panose="02020603050405020304" pitchFamily="18" charset="0"/>
              </a:rPr>
              <a:t>, assim trazendo uma edição e síntese das informações de forma facilitada</a:t>
            </a:r>
            <a:r>
              <a:rPr lang="pt-BR" sz="1400" dirty="0" smtClean="0">
                <a:solidFill>
                  <a:srgbClr val="1E293B"/>
                </a:solidFill>
                <a:latin typeface="Times New Roman" panose="02020603050405020304" pitchFamily="18" charset="0"/>
                <a:ea typeface="Inter SemiBold" pitchFamily="34" charset="-122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1E293B"/>
              </a:solidFill>
              <a:latin typeface="Times New Roman" panose="02020603050405020304" pitchFamily="18" charset="0"/>
              <a:ea typeface="Inter SemiBold" pitchFamily="34" charset="-122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400" dirty="0" smtClean="0">
                <a:solidFill>
                  <a:srgbClr val="1E293B"/>
                </a:solidFill>
                <a:latin typeface="Times New Roman" panose="02020603050405020304" pitchFamily="18" charset="0"/>
                <a:ea typeface="Inter SemiBold" pitchFamily="34" charset="-122"/>
                <a:cs typeface="Times New Roman" panose="02020603050405020304" pitchFamily="18" charset="0"/>
              </a:rPr>
              <a:t>O site utiliza o </a:t>
            </a:r>
            <a:r>
              <a:rPr lang="pt-BR" sz="1400" dirty="0" smtClean="0">
                <a:solidFill>
                  <a:srgbClr val="1E293B"/>
                </a:solidFill>
                <a:latin typeface="Times New Roman" panose="02020603050405020304" pitchFamily="18" charset="0"/>
                <a:ea typeface="Inter SemiBold" pitchFamily="34" charset="-122"/>
                <a:cs typeface="Times New Roman" panose="02020603050405020304" pitchFamily="18" charset="0"/>
              </a:rPr>
              <a:t>vitepress</a:t>
            </a:r>
            <a:r>
              <a:rPr lang="pt-BR" sz="1400" dirty="0" smtClean="0">
                <a:solidFill>
                  <a:srgbClr val="1E293B"/>
                </a:solidFill>
                <a:latin typeface="Times New Roman" panose="02020603050405020304" pitchFamily="18" charset="0"/>
                <a:ea typeface="Inter SemiBold" pitchFamily="34" charset="-122"/>
                <a:cs typeface="Times New Roman" panose="02020603050405020304" pitchFamily="18" charset="0"/>
              </a:rPr>
              <a:t> que tem como seu diferencial a conversão de arquivos </a:t>
            </a:r>
            <a:r>
              <a:rPr lang="pt-BR" sz="1400" i="1" dirty="0" smtClean="0">
                <a:solidFill>
                  <a:srgbClr val="1E293B"/>
                </a:solidFill>
                <a:latin typeface="Times New Roman" panose="02020603050405020304" pitchFamily="18" charset="0"/>
                <a:ea typeface="Inter SemiBold" pitchFamily="34" charset="-122"/>
                <a:cs typeface="Times New Roman" panose="02020603050405020304" pitchFamily="18" charset="0"/>
              </a:rPr>
              <a:t>Markdown</a:t>
            </a:r>
            <a:r>
              <a:rPr lang="pt-BR" sz="1400" dirty="0" smtClean="0">
                <a:solidFill>
                  <a:srgbClr val="1E293B"/>
                </a:solidFill>
                <a:latin typeface="Times New Roman" panose="02020603050405020304" pitchFamily="18" charset="0"/>
                <a:ea typeface="Inter SemiBold" pitchFamily="34" charset="-122"/>
                <a:cs typeface="Times New Roman" panose="02020603050405020304" pitchFamily="18" charset="0"/>
              </a:rPr>
              <a:t> (.</a:t>
            </a:r>
            <a:r>
              <a:rPr lang="pt-BR" sz="1400" dirty="0" smtClean="0">
                <a:solidFill>
                  <a:srgbClr val="1E293B"/>
                </a:solidFill>
                <a:latin typeface="Times New Roman" panose="02020603050405020304" pitchFamily="18" charset="0"/>
                <a:ea typeface="Inter SemiBold" pitchFamily="34" charset="-122"/>
                <a:cs typeface="Times New Roman" panose="02020603050405020304" pitchFamily="18" charset="0"/>
              </a:rPr>
              <a:t>md</a:t>
            </a:r>
            <a:r>
              <a:rPr lang="pt-BR" sz="1400" dirty="0" smtClean="0">
                <a:solidFill>
                  <a:srgbClr val="1E293B"/>
                </a:solidFill>
                <a:latin typeface="Times New Roman" panose="02020603050405020304" pitchFamily="18" charset="0"/>
                <a:ea typeface="Inter SemiBold" pitchFamily="34" charset="-122"/>
                <a:cs typeface="Times New Roman" panose="02020603050405020304" pitchFamily="18" charset="0"/>
              </a:rPr>
              <a:t>), em páginas </a:t>
            </a:r>
            <a:r>
              <a:rPr lang="pt-BR" sz="1400" i="1" dirty="0" smtClean="0">
                <a:solidFill>
                  <a:srgbClr val="1E293B"/>
                </a:solidFill>
                <a:latin typeface="Times New Roman" panose="02020603050405020304" pitchFamily="18" charset="0"/>
                <a:ea typeface="Inter SemiBold" pitchFamily="34" charset="-122"/>
                <a:cs typeface="Times New Roman" panose="02020603050405020304" pitchFamily="18" charset="0"/>
              </a:rPr>
              <a:t>HTML </a:t>
            </a:r>
            <a:r>
              <a:rPr lang="pt-BR" sz="1400" dirty="0" smtClean="0">
                <a:solidFill>
                  <a:srgbClr val="1E293B"/>
                </a:solidFill>
                <a:latin typeface="Times New Roman" panose="02020603050405020304" pitchFamily="18" charset="0"/>
                <a:ea typeface="Inter SemiBold" pitchFamily="34" charset="-122"/>
                <a:cs typeface="Times New Roman" panose="02020603050405020304" pitchFamily="18" charset="0"/>
              </a:rPr>
              <a:t>de forma que fique fácil a sua visualização.</a:t>
            </a:r>
          </a:p>
        </p:txBody>
      </p:sp>
      <p:sp>
        <p:nvSpPr>
          <p:cNvPr id="3" name="AutoShape 2" descr="box.sv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pic>
        <p:nvPicPr>
          <p:cNvPr id="8" name="Imagem 7"/>
          <p:cNvPicPr/>
          <p:nvPr/>
        </p:nvPicPr>
        <p:blipFill>
          <a:blip r:embed="rId3"/>
          <a:stretch/>
        </p:blipFill>
        <p:spPr bwMode="auto">
          <a:xfrm>
            <a:off x="4780535" y="1971800"/>
            <a:ext cx="3902890" cy="2462213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4270451" y="1482287"/>
            <a:ext cx="49298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Exemplo do site gerado pelo arquivo </a:t>
            </a:r>
            <a:r>
              <a:rPr lang="pt-BR" sz="1600" b="1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Markdown</a:t>
            </a:r>
            <a:r>
              <a:rPr lang="pt-BR" sz="16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pt-BR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pt-B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5044" y="459684"/>
            <a:ext cx="3957017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pt-BR" sz="1200" kern="0" spc="2" dirty="0" smtClean="0">
                <a:solidFill>
                  <a:srgbClr val="0284C7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Progresso atual do </a:t>
            </a:r>
            <a:r>
              <a:rPr lang="pt-BR" sz="1200" kern="0" spc="2" dirty="0" smtClean="0">
                <a:solidFill>
                  <a:srgbClr val="0284C7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programa.</a:t>
            </a:r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8100392" y="0"/>
            <a:ext cx="1043608" cy="51435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 5"/>
          <p:cNvSpPr/>
          <p:nvPr/>
        </p:nvSpPr>
        <p:spPr>
          <a:xfrm>
            <a:off x="8100392" y="4131645"/>
            <a:ext cx="1043608" cy="1011855"/>
          </a:xfrm>
          <a:prstGeom prst="rect">
            <a:avLst/>
          </a:prstGeom>
          <a:solidFill>
            <a:srgbClr val="CB1919"/>
          </a:solidFill>
          <a:ln>
            <a:solidFill>
              <a:srgbClr val="CB19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B1919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01" y="1893706"/>
            <a:ext cx="3751036" cy="1893101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605044" y="833793"/>
            <a:ext cx="29034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Página inicial do site e as funções nele existentes</a:t>
            </a: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5368" y="1893706"/>
            <a:ext cx="3774395" cy="1893101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4518276" y="833792"/>
            <a:ext cx="31885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Página do glossário, com vista do menu e outros </a:t>
            </a:r>
            <a:r>
              <a:rPr lang="pt-BR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sub-menus</a:t>
            </a:r>
            <a:endParaRPr lang="pt-B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91453" y="371475"/>
            <a:ext cx="822960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pt-BR" sz="1200" kern="0" spc="2" dirty="0" smtClean="0">
                <a:solidFill>
                  <a:srgbClr val="0284C7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Bibliografia</a:t>
            </a:r>
            <a:endParaRPr lang="pt-BR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191453" y="591145"/>
            <a:ext cx="7346563" cy="2387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Arial" panose="020B0604020202020204" pitchFamily="34" charset="0"/>
                <a:ea typeface="Playfair Display Bold" pitchFamily="34" charset="-122"/>
                <a:cs typeface="Arial" panose="020B0604020202020204" pitchFamily="34" charset="0"/>
              </a:rPr>
              <a:t>Principais referências bibliográficas utilizadas no desenvolvimento do TCC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191453" y="1091906"/>
            <a:ext cx="5176847" cy="46166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ALHYARI, Narmeen. Effectiveness of blended learning in video editing and production: a case study in Jordanian higher education. </a:t>
            </a:r>
            <a:r>
              <a:rPr lang="pt-BR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Discover Education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v. 5, n. 1, 2026. Disponível em: &lt;http://dx.doi.org/10.1007/s44217-026-01120-w&gt;.</a:t>
            </a:r>
          </a:p>
        </p:txBody>
      </p:sp>
      <p:sp>
        <p:nvSpPr>
          <p:cNvPr id="11" name="Text 8"/>
          <p:cNvSpPr/>
          <p:nvPr/>
        </p:nvSpPr>
        <p:spPr>
          <a:xfrm>
            <a:off x="1191453" y="1704408"/>
            <a:ext cx="5176847" cy="61555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MTELELI, Lutho; ISAAC MTSHALI, Thokozani; SKOSANA, Ndlelehle. Digital technology integration in Engineering Graphics and design Education: A qualitative study of teachers’ pedagogical practices and challenges. </a:t>
            </a:r>
            <a:r>
              <a:rPr lang="pt-BR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Education and Teaching (JET)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v. 7, n. 1, p. 237–251, 2026. Disponível em: &lt;https://jet.or.id/index.php/jet/article/view/746&gt;.</a:t>
            </a:r>
          </a:p>
        </p:txBody>
      </p:sp>
      <p:sp>
        <p:nvSpPr>
          <p:cNvPr id="12" name="Text 9"/>
          <p:cNvSpPr/>
          <p:nvPr/>
        </p:nvSpPr>
        <p:spPr>
          <a:xfrm>
            <a:off x="1191452" y="2501576"/>
            <a:ext cx="5176847" cy="61555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MATSUNAGA, Harutaka; MIYATA, Kazunori. Extending computer graphics education through reverse engineering: Further enhancements in visual communication and creativity. </a:t>
            </a:r>
            <a:r>
              <a:rPr lang="pt-BR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Art &amp; Design Education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 jade.70010, 2026. Disponível em: &lt;http://dx.doi.org/10.1111/jade.70010&gt;.</a:t>
            </a:r>
          </a:p>
        </p:txBody>
      </p:sp>
      <p:sp>
        <p:nvSpPr>
          <p:cNvPr id="13" name="Text 10"/>
          <p:cNvSpPr/>
          <p:nvPr/>
        </p:nvSpPr>
        <p:spPr>
          <a:xfrm>
            <a:off x="1191453" y="3225219"/>
            <a:ext cx="5176847" cy="92333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BEATRIZ, Graduação et al. INTRODUÇÃO À MODELAGEM 3D COM BLENDER: UM ESTUDO DE CASO APLICADO PARA A FACILITAÇÃO DO APRENDIZADO DE CRIAÇÃO DE OBJETOS 3D, VOLTADO PARA OS ALUNOS DE. Disponível em: https://</a:t>
            </a:r>
            <a:r>
              <a:rPr lang="pt-BR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bdm.ufpa.br/server/api/core/bitstreams/baff2f2d-086c-4f89-8040-a112f47318f3/content. </a:t>
            </a: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Acesso em: 30 mar. 2026.</a:t>
            </a:r>
            <a:endParaRPr lang="en-US" sz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0" y="0"/>
            <a:ext cx="1043608" cy="51435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Retângulo 17"/>
          <p:cNvSpPr/>
          <p:nvPr/>
        </p:nvSpPr>
        <p:spPr>
          <a:xfrm>
            <a:off x="0" y="-12859"/>
            <a:ext cx="1043608" cy="1011855"/>
          </a:xfrm>
          <a:prstGeom prst="rect">
            <a:avLst/>
          </a:prstGeom>
          <a:solidFill>
            <a:srgbClr val="CB1919"/>
          </a:solidFill>
          <a:ln>
            <a:solidFill>
              <a:srgbClr val="CB19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B1919"/>
              </a:solidFill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1249845" y="4256639"/>
            <a:ext cx="4572000" cy="60907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pt-BR" sz="1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CHEN, M.; XU, Z.; RIPPIN, W. On the Pedagogy of Teaching Introductory Computer Graphics without Rendering APIs. </a:t>
            </a:r>
            <a:r>
              <a:rPr lang="pt-BR" sz="1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Eurographics</a:t>
            </a:r>
            <a:r>
              <a:rPr lang="pt-BR" sz="1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2018. Disponível em: &lt;https://dl.acm.org/doi/10.5555/3297765.3297776&gt;.</a:t>
            </a:r>
            <a:endParaRPr lang="pt-BR" sz="1000" dirty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Lohit Hind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CB1919"/>
          </a:solidFill>
          <a:ln/>
        </p:spPr>
      </p:sp>
      <p:sp>
        <p:nvSpPr>
          <p:cNvPr id="4" name="Text 1"/>
          <p:cNvSpPr/>
          <p:nvPr/>
        </p:nvSpPr>
        <p:spPr>
          <a:xfrm>
            <a:off x="342900" y="4714875"/>
            <a:ext cx="1714500" cy="428625"/>
          </a:xfrm>
          <a:prstGeom prst="rect">
            <a:avLst/>
          </a:prstGeom>
          <a:noFill/>
          <a:ln/>
        </p:spPr>
        <p:txBody>
          <a:bodyPr wrap="square" lIns="0" tIns="0" rIns="0" bIns="510286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2720837" y="843532"/>
            <a:ext cx="3022738" cy="256993"/>
          </a:xfrm>
          <a:prstGeom prst="rect">
            <a:avLst/>
          </a:prstGeom>
          <a:noFill/>
          <a:ln/>
        </p:spPr>
        <p:txBody>
          <a:bodyPr wrap="square" lIns="136017" tIns="51054" rIns="136017" bIns="51054" rtlCol="0" anchor="t">
            <a:spAutoFit/>
          </a:bodyPr>
          <a:lstStyle/>
          <a:p>
            <a:pPr marL="0" indent="0" algn="l">
              <a:buNone/>
            </a:pPr>
            <a:r>
              <a:rPr lang="en-US" sz="1000" kern="0" spc="2" dirty="0">
                <a:solidFill>
                  <a:srgbClr val="1E293B"/>
                </a:solidFill>
                <a:latin typeface="Arial" panose="020B0604020202020204" pitchFamily="34" charset="0"/>
                <a:ea typeface="Inter SemiBold" pitchFamily="34" charset="-122"/>
                <a:cs typeface="Arial" panose="020B0604020202020204" pitchFamily="34" charset="0"/>
              </a:rPr>
              <a:t>TRABALHO DE CONCLUSÃO DE CURSO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2771775" y="1219795"/>
            <a:ext cx="3263714" cy="4875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1E293B"/>
                </a:solidFill>
                <a:latin typeface="Arial" panose="020B0604020202020204" pitchFamily="34" charset="0"/>
                <a:ea typeface="Playfair Display Bold" pitchFamily="34" charset="-122"/>
                <a:cs typeface="Arial" panose="020B0604020202020204" pitchFamily="34" charset="0"/>
              </a:rPr>
              <a:t>Muito Obrigado!</a:t>
            </a:r>
            <a:endParaRPr lang="en-US" sz="3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1418</TotalTime>
  <Words>806</Words>
  <Application>Microsoft Office PowerPoint</Application>
  <PresentationFormat>Apresentação na tela (16:9)</PresentationFormat>
  <Paragraphs>74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9" baseType="lpstr">
      <vt:lpstr>Arial</vt:lpstr>
      <vt:lpstr>Calibri</vt:lpstr>
      <vt:lpstr>Droid Sans Fallback</vt:lpstr>
      <vt:lpstr>Inter Light</vt:lpstr>
      <vt:lpstr>Inter SemiBold</vt:lpstr>
      <vt:lpstr>Lohit Hindi</vt:lpstr>
      <vt:lpstr>Playfair Display Bold</vt:lpstr>
      <vt:lpstr>Times New Roman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Usuário</cp:lastModifiedBy>
  <cp:revision>63</cp:revision>
  <dcterms:created xsi:type="dcterms:W3CDTF">2026-06-03T22:18:13Z</dcterms:created>
  <dcterms:modified xsi:type="dcterms:W3CDTF">2026-06-07T01:06:50Z</dcterms:modified>
</cp:coreProperties>
</file>